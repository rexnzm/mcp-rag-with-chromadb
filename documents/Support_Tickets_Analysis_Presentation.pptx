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Issue Type Distribution and Satisfaction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1963309273840773E-2"/>
          <c:y val="0.15863708442694663"/>
          <c:w val="0.90893946850393703"/>
          <c:h val="0.3893610564304462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 Count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API Issue</c:v>
                </c:pt>
                <c:pt idx="1">
                  <c:v>Billing Issue</c:v>
                </c:pt>
                <c:pt idx="2">
                  <c:v>Data Import</c:v>
                </c:pt>
                <c:pt idx="3">
                  <c:v>Feature Request</c:v>
                </c:pt>
                <c:pt idx="4">
                  <c:v>Login Issue</c:v>
                </c:pt>
                <c:pt idx="5">
                  <c:v>Report Generation</c:v>
                </c:pt>
                <c:pt idx="6">
                  <c:v>UI Bug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11</c:v>
                </c:pt>
                <c:pt idx="2">
                  <c:v>11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E-4D1F-AD32-065E81D9F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Satisfaction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API Issue</c:v>
                </c:pt>
                <c:pt idx="1">
                  <c:v>Billing Issue</c:v>
                </c:pt>
                <c:pt idx="2">
                  <c:v>Data Import</c:v>
                </c:pt>
                <c:pt idx="3">
                  <c:v>Feature Request</c:v>
                </c:pt>
                <c:pt idx="4">
                  <c:v>Login Issue</c:v>
                </c:pt>
                <c:pt idx="5">
                  <c:v>Report Generation</c:v>
                </c:pt>
                <c:pt idx="6">
                  <c:v>UI Bug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3.8</c:v>
                </c:pt>
                <c:pt idx="1">
                  <c:v>2.27</c:v>
                </c:pt>
                <c:pt idx="2">
                  <c:v>2.36</c:v>
                </c:pt>
                <c:pt idx="3">
                  <c:v>2.17</c:v>
                </c:pt>
                <c:pt idx="4">
                  <c:v>4.33</c:v>
                </c:pt>
                <c:pt idx="5">
                  <c:v>2</c:v>
                </c:pt>
                <c:pt idx="6">
                  <c:v>3.67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FE-4D1F-AD32-065E81D9FB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68613257327209098"/>
          <c:y val="0.14269028871391073"/>
          <c:w val="0.28608964895013123"/>
          <c:h val="0.1684388670166229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Response and Resolution Times by Priority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Response Time (min)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183.29</c:v>
                </c:pt>
                <c:pt idx="1">
                  <c:v>112.32</c:v>
                </c:pt>
                <c:pt idx="2">
                  <c:v>112.25</c:v>
                </c:pt>
                <c:pt idx="3">
                  <c:v>144.25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2-4C0C-A7B7-41A6E83A57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Resolution Time (min)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711.57</c:v>
                </c:pt>
                <c:pt idx="1">
                  <c:v>578.74</c:v>
                </c:pt>
                <c:pt idx="2">
                  <c:v>698</c:v>
                </c:pt>
                <c:pt idx="3">
                  <c:v>788.08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62-4C0C-A7B7-41A6E83A57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GB"/>
                  <a:t>Time (minutes)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27582854877515312"/>
          <c:y val="0.11875688333076011"/>
          <c:w val="0.42035200678040247"/>
          <c:h val="0.30072152745612679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/>
              <a:t>Agent 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 Handled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Agent A001</c:v>
                </c:pt>
                <c:pt idx="1">
                  <c:v>Agent A002</c:v>
                </c:pt>
                <c:pt idx="2">
                  <c:v>Agent A003</c:v>
                </c:pt>
                <c:pt idx="3">
                  <c:v>Agent A004</c:v>
                </c:pt>
                <c:pt idx="4">
                  <c:v>Agent A005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9</c:v>
                </c:pt>
                <c:pt idx="3">
                  <c:v>18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4-4899-B774-3B8267309C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Agent A001</c:v>
                </c:pt>
                <c:pt idx="1">
                  <c:v>Agent A002</c:v>
                </c:pt>
                <c:pt idx="2">
                  <c:v>Agent A003</c:v>
                </c:pt>
                <c:pt idx="3">
                  <c:v>Agent A004</c:v>
                </c:pt>
                <c:pt idx="4">
                  <c:v>Agent A005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74-4899-B774-3B8267309C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Satisfaction Rating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Agent A001</c:v>
                </c:pt>
                <c:pt idx="1">
                  <c:v>Agent A002</c:v>
                </c:pt>
                <c:pt idx="2">
                  <c:v>Agent A003</c:v>
                </c:pt>
                <c:pt idx="3">
                  <c:v>Agent A004</c:v>
                </c:pt>
                <c:pt idx="4">
                  <c:v>Agent A005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2.14</c:v>
                </c:pt>
                <c:pt idx="1">
                  <c:v>2.89</c:v>
                </c:pt>
                <c:pt idx="2">
                  <c:v>3.11</c:v>
                </c:pt>
                <c:pt idx="3">
                  <c:v>2.89</c:v>
                </c:pt>
                <c:pt idx="4">
                  <c:v>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74-4899-B774-3B8267309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2004743547681538"/>
          <c:y val="0.22297626859142605"/>
          <c:w val="0.27995256452318462"/>
          <c:h val="0.28911663385826769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/>
              <a:t>Ticket Resolution Status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2575056874905061"/>
          <c:y val="0.15349093160081839"/>
          <c:w val="0.52991372692260297"/>
          <c:h val="0.8465090683991816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Resolved</c:v>
                </c:pt>
                <c:pt idx="1">
                  <c:v>Unresolved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5-4043-9CAC-7AFECF2FC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Support Tickets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Comprehensive Analysis of Customer Support Performance</a:t>
            </a:r>
          </a:p>
          <a:p>
            <a:r>
              <a:rPr dirty="0"/>
              <a:t>Data Period: January - July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lnSpc>
                <a:spcPct val="160000"/>
              </a:lnSpc>
            </a:pPr>
            <a:r>
              <a:rPr dirty="0"/>
              <a:t>Total Tickets Processed: 50</a:t>
            </a:r>
          </a:p>
          <a:p>
            <a:pPr>
              <a:lnSpc>
                <a:spcPct val="160000"/>
              </a:lnSpc>
            </a:pPr>
            <a:r>
              <a:rPr dirty="0"/>
              <a:t>Resolution Rate: 46% (23 resolved, 27 unresolved)</a:t>
            </a:r>
          </a:p>
          <a:p>
            <a:pPr>
              <a:lnSpc>
                <a:spcPct val="160000"/>
              </a:lnSpc>
            </a:pPr>
            <a:r>
              <a:rPr dirty="0"/>
              <a:t>Average Response Time: 129.9 minutes (~2.2 hours)</a:t>
            </a:r>
          </a:p>
          <a:p>
            <a:pPr>
              <a:lnSpc>
                <a:spcPct val="160000"/>
              </a:lnSpc>
            </a:pPr>
            <a:r>
              <a:rPr dirty="0"/>
              <a:t>Average Resolution Time: 676.2 minutes (~11.3 hours)</a:t>
            </a:r>
          </a:p>
          <a:p>
            <a:pPr>
              <a:lnSpc>
                <a:spcPct val="160000"/>
              </a:lnSpc>
            </a:pPr>
            <a:r>
              <a:rPr dirty="0"/>
              <a:t>Average Customer Satisfaction: 2.82 out of 5</a:t>
            </a:r>
          </a:p>
          <a:p>
            <a:pPr>
              <a:lnSpc>
                <a:spcPct val="160000"/>
              </a:lnSpc>
            </a:pPr>
            <a:r>
              <a:rPr dirty="0"/>
              <a:t>Key Challenge: Over half of tickets remain unresolved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Analysis by Issue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529254"/>
              </p:ext>
            </p:extLst>
          </p:nvPr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by Priority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68122"/>
              </p:ext>
            </p:extLst>
          </p:nvPr>
        </p:nvGraphicFramePr>
        <p:xfrm>
          <a:off x="914400" y="1600200"/>
          <a:ext cx="7315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85710"/>
              </p:ext>
            </p:extLst>
          </p:nvPr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Status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858" y="1261796"/>
            <a:ext cx="8229600" cy="4863701"/>
          </a:xfrm>
        </p:spPr>
        <p:txBody>
          <a:bodyPr/>
          <a:lstStyle/>
          <a:p>
            <a:endParaRPr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50000"/>
              </p:ext>
            </p:extLst>
          </p:nvPr>
        </p:nvGraphicFramePr>
        <p:xfrm>
          <a:off x="1297859" y="1318492"/>
          <a:ext cx="6833418" cy="427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6077" y="5524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DC3232"/>
                </a:solidFill>
              </a:rPr>
              <a:t>CRITICAL FINDING: 54% of tickets remain unresolved</a:t>
            </a:r>
          </a:p>
          <a:p>
            <a:r>
              <a:rPr sz="1400" b="1" dirty="0">
                <a:solidFill>
                  <a:srgbClr val="DC3232"/>
                </a:solidFill>
              </a:rPr>
              <a:t>This represents a significant service gap requiring immediate attention.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/>
              <a:t>Most Common Issues: Data Import and Billing (11 tickets each) - require focused attention</a:t>
            </a:r>
          </a:p>
          <a:p>
            <a:r>
              <a:rPr dirty="0"/>
              <a:t>Highest Customer Satisfaction: Login Issues (4.33/5) despite longest resolution times</a:t>
            </a:r>
          </a:p>
          <a:p>
            <a:r>
              <a:rPr dirty="0"/>
              <a:t>Priority Paradox: Medium and High priority tickets have similar response times (~112 min)</a:t>
            </a:r>
          </a:p>
          <a:p>
            <a:r>
              <a:rPr dirty="0"/>
              <a:t>Agent A003: Top-rated agent (3.11/5) but handles fewer tickets than A004</a:t>
            </a:r>
          </a:p>
          <a:p>
            <a:r>
              <a:rPr dirty="0"/>
              <a:t>Critical Gap: Critical priority tickets have slowest response time (183 min vs 112 min for High)</a:t>
            </a:r>
          </a:p>
          <a:p>
            <a:r>
              <a:rPr dirty="0"/>
              <a:t>Performance Opportunity: Agent A002 shows best resolution rate (67%) - best practices to share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IMMEDIATE: Address 27 unresolved tickets - conduct root cause analysis and establish escalation protocols</a:t>
            </a:r>
          </a:p>
          <a:p>
            <a:r>
              <a:t>PRIORITY OPTIMIZATION: Review and realign priority classification criteria - Critical tickets need faster response</a:t>
            </a:r>
          </a:p>
          <a:p>
            <a:r>
              <a:t>DATA IMPORT &amp; BILLING: Create specialized training modules for most common issue types</a:t>
            </a:r>
          </a:p>
          <a:p>
            <a:r>
              <a:t>AGENT DEVELOPMENT: Implement knowledge sharing program led by top performers (Agent A002 &amp; A003)</a:t>
            </a:r>
          </a:p>
          <a:p>
            <a:r>
              <a:t>PROCESS IMPROVEMENT: Standardize response time targets across all priority levels to ensure consistency</a:t>
            </a:r>
          </a:p>
          <a:p>
            <a:r>
              <a:t>CUSTOMER SATISFACTION: Study Login Issue resolution approach - apply successful practices to other categories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Week 1-2: Emergency resolution task force for 27 outstanding tickets</a:t>
            </a:r>
          </a:p>
          <a:p>
            <a:r>
              <a:t>Week 3-4: Implement new priority response time SLAs and monitoring dashboard</a:t>
            </a:r>
          </a:p>
          <a:p>
            <a:r>
              <a:t>Month 2: Launch agent training program focusing on Data Import and Billing issues</a:t>
            </a:r>
          </a:p>
          <a:p>
            <a:r>
              <a:t>Month 2-3: Establish peer mentoring system with top-performing agents</a:t>
            </a:r>
          </a:p>
          <a:p>
            <a:r>
              <a:t>Ongoing: Weekly performance reviews and monthly customer satisfaction tracking</a:t>
            </a:r>
          </a:p>
          <a:p>
            <a:r>
              <a:t>Quarter 2: Target goals - 75% resolution rate, &lt;100 min avg response time, 4.0+ satisfaction rating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401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Support Tickets Analysis Report</vt:lpstr>
      <vt:lpstr>Executive Summary</vt:lpstr>
      <vt:lpstr>Analysis by Issue Type</vt:lpstr>
      <vt:lpstr>Analysis by Priority Level</vt:lpstr>
      <vt:lpstr>Agent Performance Analysis</vt:lpstr>
      <vt:lpstr>Resolution Status Breakdown</vt:lpstr>
      <vt:lpstr>Key Insights</vt:lpstr>
      <vt:lpstr>Strategic Recommendations</vt:lpstr>
      <vt:lpstr>Action Plan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Cyprian FUSI</cp:lastModifiedBy>
  <cp:revision>3</cp:revision>
  <dcterms:created xsi:type="dcterms:W3CDTF">2013-01-27T09:14:16Z</dcterms:created>
  <dcterms:modified xsi:type="dcterms:W3CDTF">2025-12-04T11:29:07Z</dcterms:modified>
  <cp:category/>
</cp:coreProperties>
</file>